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19"/>
  </p:notesMasterIdLst>
  <p:handoutMasterIdLst>
    <p:handoutMasterId r:id="rId20"/>
  </p:handoutMasterIdLst>
  <p:sldIdLst>
    <p:sldId id="334" r:id="rId5"/>
    <p:sldId id="360" r:id="rId6"/>
    <p:sldId id="343" r:id="rId7"/>
    <p:sldId id="342" r:id="rId8"/>
    <p:sldId id="336" r:id="rId9"/>
    <p:sldId id="350" r:id="rId10"/>
    <p:sldId id="351" r:id="rId11"/>
    <p:sldId id="352" r:id="rId12"/>
    <p:sldId id="354" r:id="rId13"/>
    <p:sldId id="353" r:id="rId14"/>
    <p:sldId id="324" r:id="rId15"/>
    <p:sldId id="356" r:id="rId16"/>
    <p:sldId id="357" r:id="rId17"/>
    <p:sldId id="33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3" autoAdjust="0"/>
    <p:restoredTop sz="84967" autoAdjust="0"/>
  </p:normalViewPr>
  <p:slideViewPr>
    <p:cSldViewPr snapToGrid="0">
      <p:cViewPr>
        <p:scale>
          <a:sx n="51" d="100"/>
          <a:sy n="51" d="100"/>
        </p:scale>
        <p:origin x="197" y="734"/>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11/21/2025</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11/21/2025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401077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1531547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215970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14</a:t>
            </a:fld>
            <a:endParaRPr lang="en-US" dirty="0"/>
          </a:p>
        </p:txBody>
      </p:sp>
    </p:spTree>
    <p:extLst>
      <p:ext uri="{BB962C8B-B14F-4D97-AF65-F5344CB8AC3E}">
        <p14:creationId xmlns:p14="http://schemas.microsoft.com/office/powerpoint/2010/main" val="3912167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ZA" dirty="0"/>
              <a:t>St10278399</a:t>
            </a:r>
            <a:br>
              <a:rPr lang="en-ZA" dirty="0"/>
            </a:br>
            <a:r>
              <a:rPr lang="en-ZA" dirty="0"/>
              <a:t>Claims app</a:t>
            </a:r>
            <a:endParaRPr lang="en-US" dirty="0"/>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5CEF2-B15A-FF97-EB36-8FB3119CDC6D}"/>
              </a:ext>
            </a:extLst>
          </p:cNvPr>
          <p:cNvSpPr>
            <a:spLocks noGrp="1"/>
          </p:cNvSpPr>
          <p:nvPr>
            <p:ph type="ctrTitle"/>
          </p:nvPr>
        </p:nvSpPr>
        <p:spPr/>
        <p:txBody>
          <a:bodyPr/>
          <a:lstStyle/>
          <a:p>
            <a:r>
              <a:rPr lang="en-ZA" dirty="0"/>
              <a:t>LOGIN DESIGN</a:t>
            </a:r>
            <a:endParaRPr lang="en-US" dirty="0"/>
          </a:p>
        </p:txBody>
      </p:sp>
      <p:sp>
        <p:nvSpPr>
          <p:cNvPr id="3" name="Text Placeholder 2">
            <a:extLst>
              <a:ext uri="{FF2B5EF4-FFF2-40B4-BE49-F238E27FC236}">
                <a16:creationId xmlns:a16="http://schemas.microsoft.com/office/drawing/2014/main" id="{FC7EF83A-9054-AF72-7C2D-4C8803632107}"/>
              </a:ext>
            </a:extLst>
          </p:cNvPr>
          <p:cNvSpPr>
            <a:spLocks noGrp="1"/>
          </p:cNvSpPr>
          <p:nvPr>
            <p:ph type="body" sz="quarter" idx="14"/>
          </p:nvPr>
        </p:nvSpPr>
        <p:spPr>
          <a:xfrm>
            <a:off x="1017271" y="2339510"/>
            <a:ext cx="4663440" cy="3550581"/>
          </a:xfrm>
        </p:spPr>
        <p:txBody>
          <a:bodyPr/>
          <a:lstStyle/>
          <a:p>
            <a:r>
              <a:rPr lang="en-ZA" dirty="0"/>
              <a:t>The system displays spaces for email and password </a:t>
            </a:r>
          </a:p>
          <a:p>
            <a:r>
              <a:rPr lang="en-ZA" dirty="0"/>
              <a:t>There is no option to choose a role in the login page because it can validate the email and password and redirect the user to the correct dashboard.</a:t>
            </a:r>
          </a:p>
          <a:p>
            <a:r>
              <a:rPr lang="en-ZA" dirty="0"/>
              <a:t>The system no longer allows registration from the login page.</a:t>
            </a:r>
          </a:p>
          <a:p>
            <a:r>
              <a:rPr lang="en-ZA" dirty="0"/>
              <a:t>This ensures secure logins that can only be provided by HR.</a:t>
            </a:r>
          </a:p>
          <a:p>
            <a:endParaRPr lang="en-US" dirty="0"/>
          </a:p>
        </p:txBody>
      </p:sp>
      <p:pic>
        <p:nvPicPr>
          <p:cNvPr id="6" name="Picture Placeholder 5" descr="A screenshot of a computer screen&#10;&#10;AI-generated content may be incorrect.">
            <a:extLst>
              <a:ext uri="{FF2B5EF4-FFF2-40B4-BE49-F238E27FC236}">
                <a16:creationId xmlns:a16="http://schemas.microsoft.com/office/drawing/2014/main" id="{4DF3A2C3-7F92-9098-BE6B-133552A9AF3F}"/>
              </a:ext>
            </a:extLst>
          </p:cNvPr>
          <p:cNvPicPr>
            <a:picLocks noGrp="1" noChangeAspect="1"/>
          </p:cNvPicPr>
          <p:nvPr>
            <p:ph type="pic" sz="quarter" idx="13"/>
          </p:nvPr>
        </p:nvPicPr>
        <p:blipFill>
          <a:blip r:embed="rId2"/>
          <a:srcRect l="30282" r="30282"/>
          <a:stretch>
            <a:fillRect/>
          </a:stretch>
        </p:blipFill>
        <p:spPr/>
      </p:pic>
    </p:spTree>
    <p:extLst>
      <p:ext uri="{BB962C8B-B14F-4D97-AF65-F5344CB8AC3E}">
        <p14:creationId xmlns:p14="http://schemas.microsoft.com/office/powerpoint/2010/main" val="3462108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8171-F501-5EC9-8849-5D0FE73AE00B}"/>
              </a:ext>
            </a:extLst>
          </p:cNvPr>
          <p:cNvSpPr>
            <a:spLocks noGrp="1"/>
          </p:cNvSpPr>
          <p:nvPr>
            <p:ph type="ctrTitle"/>
          </p:nvPr>
        </p:nvSpPr>
        <p:spPr>
          <a:xfrm>
            <a:off x="1618772" y="1838517"/>
            <a:ext cx="6578867" cy="1983662"/>
          </a:xfrm>
        </p:spPr>
        <p:txBody>
          <a:bodyPr/>
          <a:lstStyle/>
          <a:p>
            <a:r>
              <a:rPr lang="en-ZA" dirty="0"/>
              <a:t>D</a:t>
            </a:r>
            <a:r>
              <a:rPr lang="en-US" dirty="0" err="1"/>
              <a:t>ashboard</a:t>
            </a:r>
            <a:r>
              <a:rPr lang="en-US" dirty="0"/>
              <a:t> views</a:t>
            </a:r>
          </a:p>
        </p:txBody>
      </p:sp>
      <p:pic>
        <p:nvPicPr>
          <p:cNvPr id="6" name="Picture Placeholder 21" descr="Mountains under near dusk sky">
            <a:extLst>
              <a:ext uri="{FF2B5EF4-FFF2-40B4-BE49-F238E27FC236}">
                <a16:creationId xmlns:a16="http://schemas.microsoft.com/office/drawing/2014/main" id="{56606EF5-1CC7-5421-5CF4-C03704056CCA}"/>
              </a:ext>
            </a:extLst>
          </p:cNvPr>
          <p:cNvPicPr>
            <a:picLocks noGrp="1" noChangeAspect="1"/>
          </p:cNvPicPr>
          <p:nvPr>
            <p:ph type="pic" sz="quarter" idx="13"/>
          </p:nvPr>
        </p:nvPicPr>
        <p:blipFill rotWithShape="1">
          <a:blip r:embed="rId3"/>
          <a:srcRect l="16939" r="16939"/>
          <a:stretch/>
        </p:blipFill>
        <p:spPr/>
      </p:pic>
    </p:spTree>
    <p:extLst>
      <p:ext uri="{BB962C8B-B14F-4D97-AF65-F5344CB8AC3E}">
        <p14:creationId xmlns:p14="http://schemas.microsoft.com/office/powerpoint/2010/main" val="3962753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p:txBody>
          <a:bodyPr/>
          <a:lstStyle/>
          <a:p>
            <a:r>
              <a:rPr lang="en-ZA" dirty="0"/>
              <a:t>S</a:t>
            </a:r>
            <a:r>
              <a:rPr lang="en-US" dirty="0" err="1"/>
              <a:t>implification</a:t>
            </a:r>
            <a:r>
              <a:rPr lang="en-US" dirty="0"/>
              <a:t> of dashboard views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idx="1"/>
          </p:nvPr>
        </p:nvSpPr>
        <p:spPr/>
        <p:txBody>
          <a:bodyPr/>
          <a:lstStyle/>
          <a:p>
            <a:r>
              <a:rPr lang="en-ZA" dirty="0"/>
              <a:t>T</a:t>
            </a:r>
            <a:r>
              <a:rPr lang="en-US" dirty="0"/>
              <a:t>he Dashboards were designed to be simple and colorful, making them easy to navigate. </a:t>
            </a:r>
          </a:p>
          <a:p>
            <a:r>
              <a:rPr lang="en-US" dirty="0"/>
              <a:t>The system displays the previously submitted claims.</a:t>
            </a:r>
          </a:p>
          <a:p>
            <a:endParaRPr lang="en-US" dirty="0"/>
          </a:p>
          <a:p>
            <a:endParaRPr lang="en-US" dirty="0"/>
          </a:p>
          <a:p>
            <a:endParaRPr lang="en-US" dirty="0"/>
          </a:p>
        </p:txBody>
      </p:sp>
      <p:pic>
        <p:nvPicPr>
          <p:cNvPr id="4" name="Picture 3" descr="A screenshot of a computer&#10;&#10;AI-generated content may be incorrect.">
            <a:extLst>
              <a:ext uri="{FF2B5EF4-FFF2-40B4-BE49-F238E27FC236}">
                <a16:creationId xmlns:a16="http://schemas.microsoft.com/office/drawing/2014/main" id="{D9D85338-CEE4-6367-C7A0-124C787083E8}"/>
              </a:ext>
            </a:extLst>
          </p:cNvPr>
          <p:cNvPicPr>
            <a:picLocks noChangeAspect="1"/>
          </p:cNvPicPr>
          <p:nvPr/>
        </p:nvPicPr>
        <p:blipFill>
          <a:blip r:embed="rId3"/>
          <a:stretch>
            <a:fillRect/>
          </a:stretch>
        </p:blipFill>
        <p:spPr>
          <a:xfrm>
            <a:off x="1190619" y="3942800"/>
            <a:ext cx="4606677" cy="219891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C8D953C-604F-9809-3CA0-3D8771093CA7}"/>
              </a:ext>
            </a:extLst>
          </p:cNvPr>
          <p:cNvPicPr>
            <a:picLocks noChangeAspect="1"/>
          </p:cNvPicPr>
          <p:nvPr/>
        </p:nvPicPr>
        <p:blipFill>
          <a:blip r:embed="rId4"/>
          <a:stretch>
            <a:fillRect/>
          </a:stretch>
        </p:blipFill>
        <p:spPr>
          <a:xfrm>
            <a:off x="7077106" y="3942800"/>
            <a:ext cx="4611711" cy="2198914"/>
          </a:xfrm>
          <a:prstGeom prst="rect">
            <a:avLst/>
          </a:prstGeom>
        </p:spPr>
      </p:pic>
    </p:spTree>
    <p:extLst>
      <p:ext uri="{BB962C8B-B14F-4D97-AF65-F5344CB8AC3E}">
        <p14:creationId xmlns:p14="http://schemas.microsoft.com/office/powerpoint/2010/main" val="1450287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698432-2D58-D940-A0AE-7748E2A4879B}"/>
              </a:ext>
            </a:extLst>
          </p:cNvPr>
          <p:cNvSpPr>
            <a:spLocks noGrp="1"/>
          </p:cNvSpPr>
          <p:nvPr>
            <p:ph type="ctrTitle"/>
          </p:nvPr>
        </p:nvSpPr>
        <p:spPr/>
        <p:txBody>
          <a:bodyPr/>
          <a:lstStyle/>
          <a:p>
            <a:r>
              <a:rPr lang="en-ZA" dirty="0"/>
              <a:t>C</a:t>
            </a:r>
            <a:r>
              <a:rPr lang="en-US" dirty="0" err="1"/>
              <a:t>reating</a:t>
            </a:r>
            <a:r>
              <a:rPr lang="en-US" dirty="0"/>
              <a:t> a New CLAIM</a:t>
            </a:r>
          </a:p>
        </p:txBody>
      </p:sp>
    </p:spTree>
    <p:extLst>
      <p:ext uri="{BB962C8B-B14F-4D97-AF65-F5344CB8AC3E}">
        <p14:creationId xmlns:p14="http://schemas.microsoft.com/office/powerpoint/2010/main" val="3749168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F55923B-8F34-AB5E-37B4-7F5DE785BA59}"/>
              </a:ext>
            </a:extLst>
          </p:cNvPr>
          <p:cNvSpPr>
            <a:spLocks noGrp="1"/>
          </p:cNvSpPr>
          <p:nvPr>
            <p:ph type="title"/>
          </p:nvPr>
        </p:nvSpPr>
        <p:spPr>
          <a:xfrm>
            <a:off x="1177290" y="548640"/>
            <a:ext cx="9137012" cy="1280160"/>
          </a:xfrm>
        </p:spPr>
        <p:txBody>
          <a:bodyPr/>
          <a:lstStyle/>
          <a:p>
            <a:r>
              <a:rPr lang="en-ZA" dirty="0"/>
              <a:t>NEW CLAIM</a:t>
            </a:r>
            <a:endParaRPr lang="en-US" dirty="0"/>
          </a:p>
        </p:txBody>
      </p:sp>
      <p:pic>
        <p:nvPicPr>
          <p:cNvPr id="6" name="Picture Placeholder 5" descr="A screenshot of a computer&#10;&#10;AI-generated content may be incorrect.">
            <a:extLst>
              <a:ext uri="{FF2B5EF4-FFF2-40B4-BE49-F238E27FC236}">
                <a16:creationId xmlns:a16="http://schemas.microsoft.com/office/drawing/2014/main" id="{4BE2588C-BBE2-8859-A4E5-EBB3C767BAF0}"/>
              </a:ext>
            </a:extLst>
          </p:cNvPr>
          <p:cNvPicPr>
            <a:picLocks noGrp="1" noChangeAspect="1"/>
          </p:cNvPicPr>
          <p:nvPr>
            <p:ph sz="quarter" idx="4"/>
          </p:nvPr>
        </p:nvPicPr>
        <p:blipFill>
          <a:blip r:embed="rId2"/>
          <a:stretch>
            <a:fillRect/>
          </a:stretch>
        </p:blipFill>
        <p:spPr>
          <a:xfrm>
            <a:off x="5629795" y="2278958"/>
            <a:ext cx="6089120" cy="2907554"/>
          </a:xfrm>
          <a:noFill/>
        </p:spPr>
      </p:pic>
      <p:sp>
        <p:nvSpPr>
          <p:cNvPr id="8" name="TextBox 7">
            <a:extLst>
              <a:ext uri="{FF2B5EF4-FFF2-40B4-BE49-F238E27FC236}">
                <a16:creationId xmlns:a16="http://schemas.microsoft.com/office/drawing/2014/main" id="{22F9A5E4-EAE5-9812-4534-AD88EC596CD5}"/>
              </a:ext>
            </a:extLst>
          </p:cNvPr>
          <p:cNvSpPr txBox="1"/>
          <p:nvPr/>
        </p:nvSpPr>
        <p:spPr>
          <a:xfrm>
            <a:off x="902971" y="2717222"/>
            <a:ext cx="4251064" cy="2308324"/>
          </a:xfrm>
          <a:prstGeom prst="rect">
            <a:avLst/>
          </a:prstGeom>
          <a:noFill/>
        </p:spPr>
        <p:txBody>
          <a:bodyPr wrap="square" rtlCol="0">
            <a:spAutoFit/>
          </a:bodyPr>
          <a:lstStyle/>
          <a:p>
            <a:r>
              <a:rPr lang="en-ZA" dirty="0"/>
              <a:t>The page for creating a new claim, this page allows a user to enter the title of their claim, whether it is monthly wages or over time owed.</a:t>
            </a:r>
          </a:p>
          <a:p>
            <a:r>
              <a:rPr lang="en-ZA" dirty="0"/>
              <a:t>Description of the claim.</a:t>
            </a:r>
          </a:p>
          <a:p>
            <a:r>
              <a:rPr lang="en-ZA" dirty="0"/>
              <a:t>Hours worked and Hourly Rate, which multiply and give real-time total before submitting the claim.</a:t>
            </a:r>
          </a:p>
        </p:txBody>
      </p:sp>
    </p:spTree>
    <p:extLst>
      <p:ext uri="{BB962C8B-B14F-4D97-AF65-F5344CB8AC3E}">
        <p14:creationId xmlns:p14="http://schemas.microsoft.com/office/powerpoint/2010/main" val="392594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9C5D-2A07-0CFD-D63C-FB841D77C621}"/>
              </a:ext>
            </a:extLst>
          </p:cNvPr>
          <p:cNvSpPr>
            <a:spLocks noGrp="1"/>
          </p:cNvSpPr>
          <p:nvPr>
            <p:ph type="ctrTitle"/>
          </p:nvPr>
        </p:nvSpPr>
        <p:spPr/>
        <p:txBody>
          <a:bodyPr/>
          <a:lstStyle/>
          <a:p>
            <a:r>
              <a:rPr lang="en-ZA" dirty="0"/>
              <a:t>CLAIM REVIEW</a:t>
            </a:r>
            <a:endParaRPr lang="en-US" dirty="0"/>
          </a:p>
        </p:txBody>
      </p:sp>
      <p:sp>
        <p:nvSpPr>
          <p:cNvPr id="3" name="Text Placeholder 2">
            <a:extLst>
              <a:ext uri="{FF2B5EF4-FFF2-40B4-BE49-F238E27FC236}">
                <a16:creationId xmlns:a16="http://schemas.microsoft.com/office/drawing/2014/main" id="{19620D96-4CDB-75DF-116E-8EA78F92AFAF}"/>
              </a:ext>
            </a:extLst>
          </p:cNvPr>
          <p:cNvSpPr>
            <a:spLocks noGrp="1"/>
          </p:cNvSpPr>
          <p:nvPr>
            <p:ph type="body" sz="quarter" idx="14"/>
          </p:nvPr>
        </p:nvSpPr>
        <p:spPr>
          <a:xfrm>
            <a:off x="1108711" y="2068407"/>
            <a:ext cx="4663440" cy="3550581"/>
          </a:xfrm>
        </p:spPr>
        <p:txBody>
          <a:bodyPr/>
          <a:lstStyle/>
          <a:p>
            <a:pPr lvl="1"/>
            <a:r>
              <a:rPr lang="en-US" sz="1800" dirty="0"/>
              <a:t>Review submitted claims</a:t>
            </a:r>
          </a:p>
          <a:p>
            <a:pPr lvl="1"/>
            <a:r>
              <a:rPr lang="en-US" sz="1800" dirty="0"/>
              <a:t>Final approval or rejection</a:t>
            </a:r>
          </a:p>
          <a:p>
            <a:pPr lvl="1"/>
            <a:r>
              <a:rPr lang="en-US" sz="1800" dirty="0"/>
              <a:t>Reject claims if information is inconsistent </a:t>
            </a:r>
          </a:p>
          <a:p>
            <a:pPr lvl="1"/>
            <a:endParaRPr lang="en-US" sz="1800" dirty="0"/>
          </a:p>
          <a:p>
            <a:pPr marL="0" lvl="1" indent="0">
              <a:buNone/>
            </a:pPr>
            <a:r>
              <a:rPr lang="en-US" sz="1800" dirty="0"/>
              <a:t>A newly submitted claim is first reviewed by the Coordinator</a:t>
            </a:r>
          </a:p>
          <a:p>
            <a:pPr marL="0" lvl="1" indent="0">
              <a:buNone/>
            </a:pPr>
            <a:r>
              <a:rPr lang="en-US" sz="1800" dirty="0"/>
              <a:t>Administrators ensure </a:t>
            </a:r>
            <a:r>
              <a:rPr lang="en-US" sz="1800" b="1" dirty="0"/>
              <a:t>accuracy and compliance</a:t>
            </a:r>
            <a:r>
              <a:rPr lang="en-US" sz="1800" dirty="0"/>
              <a:t> before HR sees claims</a:t>
            </a:r>
          </a:p>
          <a:p>
            <a:r>
              <a:rPr lang="en-US" dirty="0"/>
              <a:t>System updates claim status for visibility in the HR dashboard</a:t>
            </a:r>
          </a:p>
          <a:p>
            <a:endParaRPr lang="en-US" dirty="0"/>
          </a:p>
        </p:txBody>
      </p:sp>
      <p:pic>
        <p:nvPicPr>
          <p:cNvPr id="6" name="Picture Placeholder 5" descr="A screenshot of a computer&#10;&#10;AI-generated content may be incorrect.">
            <a:extLst>
              <a:ext uri="{FF2B5EF4-FFF2-40B4-BE49-F238E27FC236}">
                <a16:creationId xmlns:a16="http://schemas.microsoft.com/office/drawing/2014/main" id="{45160FCE-9CEA-3DE0-FB7B-C428DED21D60}"/>
              </a:ext>
            </a:extLst>
          </p:cNvPr>
          <p:cNvPicPr>
            <a:picLocks noGrp="1" noChangeAspect="1"/>
          </p:cNvPicPr>
          <p:nvPr>
            <p:ph type="pic" sz="quarter" idx="13"/>
          </p:nvPr>
        </p:nvPicPr>
        <p:blipFill>
          <a:blip r:embed="rId2"/>
          <a:srcRect l="30085" r="30085"/>
          <a:stretch>
            <a:fillRect/>
          </a:stretch>
        </p:blipFill>
        <p:spPr/>
      </p:pic>
    </p:spTree>
    <p:extLst>
      <p:ext uri="{BB962C8B-B14F-4D97-AF65-F5344CB8AC3E}">
        <p14:creationId xmlns:p14="http://schemas.microsoft.com/office/powerpoint/2010/main" val="164321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FC0897C-7B63-B4C6-0B17-0C80E0AC402A}"/>
              </a:ext>
            </a:extLst>
          </p:cNvPr>
          <p:cNvSpPr>
            <a:spLocks noGrp="1"/>
          </p:cNvSpPr>
          <p:nvPr>
            <p:ph type="ctrTitle"/>
          </p:nvPr>
        </p:nvSpPr>
        <p:spPr>
          <a:xfrm>
            <a:off x="1280160" y="301752"/>
            <a:ext cx="4663438" cy="2441448"/>
          </a:xfrm>
        </p:spPr>
        <p:txBody>
          <a:bodyPr anchor="ctr">
            <a:normAutofit/>
          </a:bodyPr>
          <a:lstStyle/>
          <a:p>
            <a:r>
              <a:rPr lang="en-ZA" dirty="0"/>
              <a:t>LIST OF CLAIMS</a:t>
            </a:r>
            <a:endParaRPr lang="en-US" dirty="0"/>
          </a:p>
        </p:txBody>
      </p:sp>
      <p:sp>
        <p:nvSpPr>
          <p:cNvPr id="17" name="Text Placeholder 2">
            <a:extLst>
              <a:ext uri="{FF2B5EF4-FFF2-40B4-BE49-F238E27FC236}">
                <a16:creationId xmlns:a16="http://schemas.microsoft.com/office/drawing/2014/main" id="{3983DCA8-FB42-95A2-D5DB-FECDF6805FB8}"/>
              </a:ext>
            </a:extLst>
          </p:cNvPr>
          <p:cNvSpPr>
            <a:spLocks noGrp="1"/>
          </p:cNvSpPr>
          <p:nvPr>
            <p:ph type="body" sz="quarter" idx="14"/>
          </p:nvPr>
        </p:nvSpPr>
        <p:spPr>
          <a:xfrm>
            <a:off x="1280161" y="2777067"/>
            <a:ext cx="4663440" cy="3550581"/>
          </a:xfrm>
        </p:spPr>
        <p:txBody>
          <a:bodyPr/>
          <a:lstStyle/>
          <a:p>
            <a:r>
              <a:rPr lang="en-ZA" dirty="0"/>
              <a:t>If a claim is approved by the Coordinator, it can then be seen in the Administrator dashboard.</a:t>
            </a:r>
          </a:p>
          <a:p>
            <a:r>
              <a:rPr lang="en-ZA" dirty="0"/>
              <a:t>But if the claim is rejected by either the Coordinator or Administrator, it can not be seen in the HR dashboard</a:t>
            </a:r>
          </a:p>
        </p:txBody>
      </p:sp>
      <p:pic>
        <p:nvPicPr>
          <p:cNvPr id="6" name="Picture Placeholder 5" descr="A screenshot of a computer&#10;&#10;AI-generated content may be incorrect.">
            <a:extLst>
              <a:ext uri="{FF2B5EF4-FFF2-40B4-BE49-F238E27FC236}">
                <a16:creationId xmlns:a16="http://schemas.microsoft.com/office/drawing/2014/main" id="{491ED73F-DC0B-E4B3-DF33-3DBAEC1037A1}"/>
              </a:ext>
            </a:extLst>
          </p:cNvPr>
          <p:cNvPicPr>
            <a:picLocks noGrp="1" noChangeAspect="1"/>
          </p:cNvPicPr>
          <p:nvPr>
            <p:ph type="pic" sz="quarter" idx="13"/>
          </p:nvPr>
        </p:nvPicPr>
        <p:blipFill>
          <a:blip r:embed="rId2"/>
          <a:stretch/>
        </p:blipFill>
        <p:spPr>
          <a:xfrm>
            <a:off x="6695553" y="2187005"/>
            <a:ext cx="5221224" cy="2493134"/>
          </a:xfrm>
          <a:noFill/>
        </p:spPr>
      </p:pic>
    </p:spTree>
    <p:extLst>
      <p:ext uri="{BB962C8B-B14F-4D97-AF65-F5344CB8AC3E}">
        <p14:creationId xmlns:p14="http://schemas.microsoft.com/office/powerpoint/2010/main" val="502154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E0BA-40B3-4443-8251-84BF71D89684}"/>
              </a:ext>
            </a:extLst>
          </p:cNvPr>
          <p:cNvSpPr>
            <a:spLocks noGrp="1"/>
          </p:cNvSpPr>
          <p:nvPr>
            <p:ph type="ctrTitle"/>
          </p:nvPr>
        </p:nvSpPr>
        <p:spPr/>
        <p:txBody>
          <a:bodyPr/>
          <a:lstStyle/>
          <a:p>
            <a:r>
              <a:rPr lang="en-ZA" dirty="0"/>
              <a:t>HR PERSONNEL</a:t>
            </a:r>
            <a:endParaRPr lang="en-US" dirty="0"/>
          </a:p>
        </p:txBody>
      </p:sp>
    </p:spTree>
    <p:extLst>
      <p:ext uri="{BB962C8B-B14F-4D97-AF65-F5344CB8AC3E}">
        <p14:creationId xmlns:p14="http://schemas.microsoft.com/office/powerpoint/2010/main" val="2768391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6A50C14-92D4-2CD6-A035-700C7D1BC3A3}"/>
              </a:ext>
            </a:extLst>
          </p:cNvPr>
          <p:cNvSpPr>
            <a:spLocks noGrp="1"/>
          </p:cNvSpPr>
          <p:nvPr>
            <p:ph type="title"/>
          </p:nvPr>
        </p:nvSpPr>
        <p:spPr>
          <a:xfrm>
            <a:off x="1280160" y="685800"/>
            <a:ext cx="9137012" cy="1280160"/>
          </a:xfrm>
        </p:spPr>
        <p:txBody>
          <a:bodyPr/>
          <a:lstStyle/>
          <a:p>
            <a:r>
              <a:rPr lang="en-ZA" dirty="0"/>
              <a:t>HR DASHBOARD</a:t>
            </a:r>
            <a:endParaRPr lang="en-US" dirty="0"/>
          </a:p>
        </p:txBody>
      </p:sp>
      <p:pic>
        <p:nvPicPr>
          <p:cNvPr id="5" name="Picture Placeholder 4">
            <a:extLst>
              <a:ext uri="{FF2B5EF4-FFF2-40B4-BE49-F238E27FC236}">
                <a16:creationId xmlns:a16="http://schemas.microsoft.com/office/drawing/2014/main" id="{579A5F59-0551-1843-8E74-63323756528D}"/>
              </a:ext>
            </a:extLst>
          </p:cNvPr>
          <p:cNvPicPr>
            <a:picLocks noGrp="1" noChangeAspect="1"/>
          </p:cNvPicPr>
          <p:nvPr>
            <p:ph sz="half" idx="2"/>
          </p:nvPr>
        </p:nvPicPr>
        <p:blipFill>
          <a:blip r:embed="rId2"/>
          <a:stretch>
            <a:fillRect/>
          </a:stretch>
        </p:blipFill>
        <p:spPr>
          <a:xfrm>
            <a:off x="1789825" y="2214089"/>
            <a:ext cx="8898161" cy="4271116"/>
          </a:xfrm>
          <a:noFill/>
        </p:spPr>
      </p:pic>
    </p:spTree>
    <p:extLst>
      <p:ext uri="{BB962C8B-B14F-4D97-AF65-F5344CB8AC3E}">
        <p14:creationId xmlns:p14="http://schemas.microsoft.com/office/powerpoint/2010/main" val="2489688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FDAA-00CD-846E-A576-B59DFA73F988}"/>
              </a:ext>
            </a:extLst>
          </p:cNvPr>
          <p:cNvSpPr>
            <a:spLocks noGrp="1"/>
          </p:cNvSpPr>
          <p:nvPr>
            <p:ph type="title"/>
          </p:nvPr>
        </p:nvSpPr>
        <p:spPr>
          <a:xfrm>
            <a:off x="1280160" y="685800"/>
            <a:ext cx="9137012" cy="1280160"/>
          </a:xfrm>
        </p:spPr>
        <p:txBody>
          <a:bodyPr/>
          <a:lstStyle/>
          <a:p>
            <a:r>
              <a:rPr lang="en-ZA" dirty="0"/>
              <a:t>WHAT THE HR DASHBOARD DOES</a:t>
            </a:r>
            <a:endParaRPr lang="en-US" dirty="0"/>
          </a:p>
        </p:txBody>
      </p:sp>
      <p:sp>
        <p:nvSpPr>
          <p:cNvPr id="4" name="Content Placeholder 3">
            <a:extLst>
              <a:ext uri="{FF2B5EF4-FFF2-40B4-BE49-F238E27FC236}">
                <a16:creationId xmlns:a16="http://schemas.microsoft.com/office/drawing/2014/main" id="{352B3B4A-6ED2-64D9-BEC7-1B6C66971286}"/>
              </a:ext>
            </a:extLst>
          </p:cNvPr>
          <p:cNvSpPr>
            <a:spLocks noGrp="1"/>
          </p:cNvSpPr>
          <p:nvPr>
            <p:ph sz="half" idx="2"/>
          </p:nvPr>
        </p:nvSpPr>
        <p:spPr>
          <a:xfrm>
            <a:off x="1249680" y="2817426"/>
            <a:ext cx="4846320" cy="4040574"/>
          </a:xfrm>
        </p:spPr>
        <p:txBody>
          <a:bodyPr/>
          <a:lstStyle/>
          <a:p>
            <a:endParaRPr lang="en-US" dirty="0"/>
          </a:p>
          <a:p>
            <a:pPr lvl="1"/>
            <a:r>
              <a:rPr lang="en-US" dirty="0"/>
              <a:t>HR cannot see claim details until the admin approves/rejects</a:t>
            </a:r>
          </a:p>
          <a:p>
            <a:pPr lvl="1"/>
            <a:r>
              <a:rPr lang="en-US" dirty="0"/>
              <a:t>Can access the feature to manage users </a:t>
            </a:r>
          </a:p>
          <a:p>
            <a:pPr lvl="1"/>
            <a:r>
              <a:rPr lang="en-US" dirty="0"/>
              <a:t>HR can see the total number of claims</a:t>
            </a:r>
          </a:p>
          <a:p>
            <a:pPr lvl="1"/>
            <a:r>
              <a:rPr lang="en-US" altLang="en-US" dirty="0">
                <a:latin typeface="Arial" panose="020B0604020202020204" pitchFamily="34" charset="0"/>
              </a:rPr>
              <a:t>Can approve remaining claims if applicable</a:t>
            </a:r>
          </a:p>
          <a:p>
            <a:pPr lvl="1"/>
            <a:endParaRPr lang="en-US" dirty="0"/>
          </a:p>
          <a:p>
            <a:pPr lvl="1"/>
            <a:endParaRPr lang="en-US" dirty="0"/>
          </a:p>
          <a:p>
            <a:endParaRPr lang="en-US" dirty="0"/>
          </a:p>
        </p:txBody>
      </p:sp>
      <p:pic>
        <p:nvPicPr>
          <p:cNvPr id="8" name="Content Placeholder 7" descr="A screenshot of a computer&#10;&#10;AI-generated content may be incorrect.">
            <a:extLst>
              <a:ext uri="{FF2B5EF4-FFF2-40B4-BE49-F238E27FC236}">
                <a16:creationId xmlns:a16="http://schemas.microsoft.com/office/drawing/2014/main" id="{4944DDB6-7EA2-5997-8EFE-64273412E554}"/>
              </a:ext>
            </a:extLst>
          </p:cNvPr>
          <p:cNvPicPr>
            <a:picLocks noGrp="1" noChangeAspect="1"/>
          </p:cNvPicPr>
          <p:nvPr>
            <p:ph sz="quarter" idx="4"/>
          </p:nvPr>
        </p:nvPicPr>
        <p:blipFill>
          <a:blip r:embed="rId3"/>
          <a:stretch>
            <a:fillRect/>
          </a:stretch>
        </p:blipFill>
        <p:spPr>
          <a:xfrm>
            <a:off x="6676171" y="2693221"/>
            <a:ext cx="4846637" cy="2323557"/>
          </a:xfrm>
        </p:spPr>
      </p:pic>
    </p:spTree>
    <p:extLst>
      <p:ext uri="{BB962C8B-B14F-4D97-AF65-F5344CB8AC3E}">
        <p14:creationId xmlns:p14="http://schemas.microsoft.com/office/powerpoint/2010/main" val="2102816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8A8D8A-C0F9-E1D7-C032-9194C01D25A7}"/>
              </a:ext>
            </a:extLst>
          </p:cNvPr>
          <p:cNvSpPr>
            <a:spLocks noGrp="1"/>
          </p:cNvSpPr>
          <p:nvPr>
            <p:ph type="title"/>
          </p:nvPr>
        </p:nvSpPr>
        <p:spPr>
          <a:xfrm>
            <a:off x="1280160" y="685800"/>
            <a:ext cx="9137012" cy="1280160"/>
          </a:xfrm>
        </p:spPr>
        <p:txBody>
          <a:bodyPr/>
          <a:lstStyle/>
          <a:p>
            <a:r>
              <a:rPr lang="en-ZA" dirty="0"/>
              <a:t>User Management</a:t>
            </a:r>
            <a:endParaRPr lang="en-US" dirty="0"/>
          </a:p>
        </p:txBody>
      </p:sp>
      <p:sp>
        <p:nvSpPr>
          <p:cNvPr id="13" name="Content Placeholder 2">
            <a:extLst>
              <a:ext uri="{FF2B5EF4-FFF2-40B4-BE49-F238E27FC236}">
                <a16:creationId xmlns:a16="http://schemas.microsoft.com/office/drawing/2014/main" id="{3FC58E18-BB9C-6430-8813-B4B481C98B8E}"/>
              </a:ext>
            </a:extLst>
          </p:cNvPr>
          <p:cNvSpPr>
            <a:spLocks noGrp="1"/>
          </p:cNvSpPr>
          <p:nvPr>
            <p:ph sz="half" idx="2"/>
          </p:nvPr>
        </p:nvSpPr>
        <p:spPr>
          <a:xfrm>
            <a:off x="1357981" y="2871754"/>
            <a:ext cx="4846320" cy="4040574"/>
          </a:xfrm>
        </p:spPr>
        <p:txBody>
          <a:bodyPr/>
          <a:lstStyle/>
          <a:p>
            <a:pPr marL="0" lvl="1" indent="0">
              <a:buNone/>
            </a:pPr>
            <a:r>
              <a:rPr lang="en-US" dirty="0"/>
              <a:t>This is where a list of created users will appear with the date the login details were created, and their roles.</a:t>
            </a:r>
          </a:p>
          <a:p>
            <a:pPr marL="0" lvl="1" indent="0">
              <a:buNone/>
            </a:pPr>
            <a:r>
              <a:rPr lang="en-US" dirty="0"/>
              <a:t>HR personnel can choose to create a new User or to delete an existing one.</a:t>
            </a:r>
          </a:p>
          <a:p>
            <a:endParaRPr lang="en-US" dirty="0"/>
          </a:p>
        </p:txBody>
      </p:sp>
      <p:pic>
        <p:nvPicPr>
          <p:cNvPr id="6" name="Picture Placeholder 5" descr="A screenshot of a computer&#10;&#10;AI-generated content may be incorrect.">
            <a:extLst>
              <a:ext uri="{FF2B5EF4-FFF2-40B4-BE49-F238E27FC236}">
                <a16:creationId xmlns:a16="http://schemas.microsoft.com/office/drawing/2014/main" id="{C129E2AE-515A-F004-4C6F-05433B680CE1}"/>
              </a:ext>
            </a:extLst>
          </p:cNvPr>
          <p:cNvPicPr>
            <a:picLocks noGrp="1" noChangeAspect="1"/>
          </p:cNvPicPr>
          <p:nvPr>
            <p:ph sz="quarter" idx="4"/>
          </p:nvPr>
        </p:nvPicPr>
        <p:blipFill>
          <a:blip r:embed="rId2"/>
          <a:stretch>
            <a:fillRect/>
          </a:stretch>
        </p:blipFill>
        <p:spPr>
          <a:xfrm>
            <a:off x="6708888" y="2784269"/>
            <a:ext cx="4846320" cy="2314117"/>
          </a:xfrm>
          <a:noFill/>
        </p:spPr>
      </p:pic>
    </p:spTree>
    <p:extLst>
      <p:ext uri="{BB962C8B-B14F-4D97-AF65-F5344CB8AC3E}">
        <p14:creationId xmlns:p14="http://schemas.microsoft.com/office/powerpoint/2010/main" val="1615697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843F-63C1-8E04-1F58-C9C8A241C099}"/>
              </a:ext>
            </a:extLst>
          </p:cNvPr>
          <p:cNvSpPr>
            <a:spLocks noGrp="1"/>
          </p:cNvSpPr>
          <p:nvPr>
            <p:ph type="ctrTitle"/>
          </p:nvPr>
        </p:nvSpPr>
        <p:spPr/>
        <p:txBody>
          <a:bodyPr/>
          <a:lstStyle/>
          <a:p>
            <a:r>
              <a:rPr lang="en-ZA" dirty="0"/>
              <a:t>USER CREATION </a:t>
            </a:r>
            <a:endParaRPr lang="en-US" dirty="0"/>
          </a:p>
        </p:txBody>
      </p:sp>
      <p:sp>
        <p:nvSpPr>
          <p:cNvPr id="3" name="Text Placeholder 2">
            <a:extLst>
              <a:ext uri="{FF2B5EF4-FFF2-40B4-BE49-F238E27FC236}">
                <a16:creationId xmlns:a16="http://schemas.microsoft.com/office/drawing/2014/main" id="{FFA2144A-6F59-CBCD-0ACF-B723F7CF9D33}"/>
              </a:ext>
            </a:extLst>
          </p:cNvPr>
          <p:cNvSpPr>
            <a:spLocks noGrp="1"/>
          </p:cNvSpPr>
          <p:nvPr>
            <p:ph type="body" sz="quarter" idx="14"/>
          </p:nvPr>
        </p:nvSpPr>
        <p:spPr/>
        <p:txBody>
          <a:bodyPr/>
          <a:lstStyle/>
          <a:p>
            <a:pPr lvl="1"/>
            <a:r>
              <a:rPr lang="en-US" dirty="0"/>
              <a:t>Here is where HR personnel can register a new user</a:t>
            </a:r>
          </a:p>
          <a:p>
            <a:pPr lvl="1"/>
            <a:r>
              <a:rPr lang="en-US" dirty="0"/>
              <a:t>Assign roles such as Coordinator, Administrator, lecturer, or create new HR logins</a:t>
            </a:r>
          </a:p>
          <a:p>
            <a:pPr lvl="1"/>
            <a:r>
              <a:rPr lang="en-US" dirty="0"/>
              <a:t> A New User is added to the system immediately after registration </a:t>
            </a:r>
          </a:p>
          <a:p>
            <a:endParaRPr lang="en-US" dirty="0"/>
          </a:p>
          <a:p>
            <a:endParaRPr lang="en-US" dirty="0"/>
          </a:p>
        </p:txBody>
      </p:sp>
      <p:pic>
        <p:nvPicPr>
          <p:cNvPr id="6" name="Picture Placeholder 5" descr="A screenshot of a computer&#10;&#10;AI-generated content may be incorrect.">
            <a:extLst>
              <a:ext uri="{FF2B5EF4-FFF2-40B4-BE49-F238E27FC236}">
                <a16:creationId xmlns:a16="http://schemas.microsoft.com/office/drawing/2014/main" id="{97C45A33-1984-A699-8BA8-E3750F91CB0E}"/>
              </a:ext>
            </a:extLst>
          </p:cNvPr>
          <p:cNvPicPr>
            <a:picLocks noGrp="1" noChangeAspect="1"/>
          </p:cNvPicPr>
          <p:nvPr>
            <p:ph type="pic" sz="quarter" idx="13"/>
          </p:nvPr>
        </p:nvPicPr>
        <p:blipFill>
          <a:blip r:embed="rId2"/>
          <a:srcRect l="30324" r="30324"/>
          <a:stretch>
            <a:fillRect/>
          </a:stretch>
        </p:blipFill>
        <p:spPr/>
      </p:pic>
    </p:spTree>
    <p:extLst>
      <p:ext uri="{BB962C8B-B14F-4D97-AF65-F5344CB8AC3E}">
        <p14:creationId xmlns:p14="http://schemas.microsoft.com/office/powerpoint/2010/main" val="189082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B4A8555D-2DFF-E6D8-3698-67C06B770264}"/>
              </a:ext>
            </a:extLst>
          </p:cNvPr>
          <p:cNvSpPr>
            <a:spLocks noGrp="1"/>
          </p:cNvSpPr>
          <p:nvPr>
            <p:ph type="title"/>
          </p:nvPr>
        </p:nvSpPr>
        <p:spPr>
          <a:xfrm>
            <a:off x="1280159" y="1384341"/>
            <a:ext cx="9144000" cy="1280160"/>
          </a:xfrm>
        </p:spPr>
        <p:txBody>
          <a:bodyPr/>
          <a:lstStyle/>
          <a:p>
            <a:r>
              <a:rPr lang="en-ZA" dirty="0"/>
              <a:t>S</a:t>
            </a:r>
            <a:r>
              <a:rPr lang="en-US" dirty="0" err="1"/>
              <a:t>ummary</a:t>
            </a:r>
            <a:endParaRPr lang="en-US" dirty="0"/>
          </a:p>
        </p:txBody>
      </p:sp>
      <p:sp>
        <p:nvSpPr>
          <p:cNvPr id="23" name="Content Placeholder 22">
            <a:extLst>
              <a:ext uri="{FF2B5EF4-FFF2-40B4-BE49-F238E27FC236}">
                <a16:creationId xmlns:a16="http://schemas.microsoft.com/office/drawing/2014/main" id="{E16BFA7C-979F-1D5E-79D4-DEEC56EBE216}"/>
              </a:ext>
            </a:extLst>
          </p:cNvPr>
          <p:cNvSpPr>
            <a:spLocks noGrp="1"/>
          </p:cNvSpPr>
          <p:nvPr>
            <p:ph sz="half" idx="2"/>
          </p:nvPr>
        </p:nvSpPr>
        <p:spPr>
          <a:xfrm>
            <a:off x="1280159" y="2782550"/>
            <a:ext cx="10172326" cy="3991131"/>
          </a:xfrm>
        </p:spPr>
        <p:txBody>
          <a:bodyPr/>
          <a:lstStyle/>
          <a:p>
            <a:endParaRPr lang="en-US" dirty="0"/>
          </a:p>
          <a:p>
            <a:r>
              <a:rPr lang="en-US" dirty="0"/>
              <a:t>This PowerPoint illustrates the entire workflow from the very first claim submission to the final approval, and highlights how streamlined and user-friendly the system is at every stage, while demonstrating efficiency and simplicity of the claims application. It demonstrates how certain features and permissions are given to each position according to its seniority, which helps to ensure strong, accurate claim processing and transparency that guarantees claims are handled consistently and effectively.</a:t>
            </a:r>
          </a:p>
        </p:txBody>
      </p:sp>
    </p:spTree>
    <p:extLst>
      <p:ext uri="{BB962C8B-B14F-4D97-AF65-F5344CB8AC3E}">
        <p14:creationId xmlns:p14="http://schemas.microsoft.com/office/powerpoint/2010/main" val="3811950613"/>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{3A910330-DC7E-4E2A-ADB6-CC079A5D3E68}tf89338750_win32</Template>
  <TotalTime>250</TotalTime>
  <Words>453</Words>
  <Application>Microsoft Office PowerPoint</Application>
  <PresentationFormat>Widescreen</PresentationFormat>
  <Paragraphs>52</Paragraphs>
  <Slides>14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Univers</vt:lpstr>
      <vt:lpstr>GradientVTI</vt:lpstr>
      <vt:lpstr>St10278399 Claims app</vt:lpstr>
      <vt:lpstr>LOGIN DESIGN</vt:lpstr>
      <vt:lpstr>Dashboard views</vt:lpstr>
      <vt:lpstr>Simplification of dashboard views</vt:lpstr>
      <vt:lpstr>Creating a New CLAIM</vt:lpstr>
      <vt:lpstr>NEW CLAIM</vt:lpstr>
      <vt:lpstr>CLAIM REVIEW</vt:lpstr>
      <vt:lpstr>LIST OF CLAIMS</vt:lpstr>
      <vt:lpstr>HR PERSONNEL</vt:lpstr>
      <vt:lpstr>HR DASHBOARD</vt:lpstr>
      <vt:lpstr>WHAT THE HR DASHBOARD DOES</vt:lpstr>
      <vt:lpstr>User Management</vt:lpstr>
      <vt:lpstr>USER CREATION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Lekabe Herman Mabalane</dc:creator>
  <cp:lastModifiedBy>Herman Mabalane</cp:lastModifiedBy>
  <cp:revision>1</cp:revision>
  <dcterms:created xsi:type="dcterms:W3CDTF">2025-11-21T15:04:34Z</dcterms:created>
  <dcterms:modified xsi:type="dcterms:W3CDTF">2025-11-21T19:15:02Z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